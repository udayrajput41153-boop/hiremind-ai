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822960"/>
            <a:ext cx="1371600" cy="13716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0" i="0">
                <a:solidFill>
                  <a:srgbClr val="E7ECF7"/>
                </a:solidFill>
                <a:latin typeface="Segoe UI"/>
              </a:rPr>
              <a:t>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2316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 i="0">
                <a:solidFill>
                  <a:srgbClr val="E7ECF7"/>
                </a:solidFill>
                <a:latin typeface="Segoe UI"/>
              </a:rPr>
              <a:t>HireMind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818CF8"/>
                </a:solidFill>
                <a:latin typeface="Segoe UI"/>
              </a:rPr>
              <a:t>Multi-Agent Resume Screening &amp; Job Matching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8B96B5"/>
                </a:solidFill>
                <a:latin typeface="Segoe UI"/>
              </a:rPr>
              <a:t>Problem Statement PS03  ·  NLP + LLM +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5120640"/>
            <a:ext cx="5943600" cy="685800"/>
          </a:xfrm>
          <a:prstGeom prst="roundRect">
            <a:avLst/>
          </a:prstGeom>
          <a:solidFill>
            <a:srgbClr val="052E22"/>
          </a:solidFill>
          <a:ln w="127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5230368"/>
            <a:ext cx="5943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34D399"/>
                </a:solidFill>
                <a:latin typeface="Segoe UI"/>
              </a:rPr>
              <a:t>LLM extracts  ·  Deterministic engine decides  ·  Fully explainable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8B96B5"/>
                </a:solidFill>
                <a:latin typeface="Segoe UI"/>
              </a:rPr>
              <a:t>[YOUR TEAM NAME]  ·  [HACKATHON NAME]  ·  11 Sept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818CF8"/>
                </a:solidFill>
                <a:latin typeface="Segoe UI"/>
              </a:rPr>
              <a:t>01  </a:t>
            </a:r>
            <a:r>
              <a:rPr sz="3000" b="1" i="0">
                <a:solidFill>
                  <a:srgbClr val="E7ECF7"/>
                </a:solidFill>
                <a:latin typeface="Segoe UI"/>
              </a:rPr>
              <a:t>The Problem: Hiring Screening Doesn't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E7ECF7"/>
                </a:solidFill>
                <a:latin typeface="Segoe UI"/>
              </a:rPr>
              <a:t>7 seconds —</a:t>
            </a:r>
            <a:r>
              <a:rPr sz="1700" b="0" i="0">
                <a:solidFill>
                  <a:srgbClr val="8B96B5"/>
                </a:solidFill>
                <a:latin typeface="Segoe UI"/>
              </a:rPr>
              <a:t>  average first-pass time a recruiter spends on a resume; hundreds of applications per opening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E7ECF7"/>
                </a:solidFill>
                <a:latin typeface="Segoe UI"/>
              </a:rPr>
              <a:t>Inconsistent screens —</a:t>
            </a:r>
            <a:r>
              <a:rPr sz="1700" b="0" i="0">
                <a:solidFill>
                  <a:srgbClr val="8B96B5"/>
                </a:solidFill>
                <a:latin typeface="Segoe UI"/>
              </a:rPr>
              <a:t>  different screeners, different outcomes; strong candidates get missed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E7ECF7"/>
                </a:solidFill>
                <a:latin typeface="Segoe UI"/>
              </a:rPr>
              <a:t>Vocabulary mismatch —</a:t>
            </a:r>
            <a:r>
              <a:rPr sz="1700" b="0" i="0">
                <a:solidFill>
                  <a:srgbClr val="8B96B5"/>
                </a:solidFill>
                <a:latin typeface="Segoe UI"/>
              </a:rPr>
              <a:t>  'React.js' vs 'React' vs 'ReactJS' breaks keyword ATS systems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E7ECF7"/>
                </a:solidFill>
                <a:latin typeface="Segoe UI"/>
              </a:rPr>
              <a:t>Opaque black boxes —</a:t>
            </a:r>
            <a:r>
              <a:rPr sz="1700" b="0" i="0">
                <a:solidFill>
                  <a:srgbClr val="8B96B5"/>
                </a:solidFill>
                <a:latin typeface="Segoe UI"/>
              </a:rPr>
              <a:t>  pure-LLM or embedding scores can't justify a ranking to a candidate or auditor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E7ECF7"/>
                </a:solidFill>
                <a:latin typeface="Segoe UI"/>
              </a:rPr>
              <a:t>No feedback loop —</a:t>
            </a:r>
            <a:r>
              <a:rPr sz="1700" b="0" i="0">
                <a:solidFill>
                  <a:srgbClr val="8B96B5"/>
                </a:solidFill>
                <a:latin typeface="Segoe UI"/>
              </a:rPr>
              <a:t>  bare scores don't tell recruiters what's missing or how close a candidate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486400"/>
            <a:ext cx="10881360" cy="777240"/>
          </a:xfrm>
          <a:prstGeom prst="roundRect">
            <a:avLst/>
          </a:prstGeom>
          <a:solidFill>
            <a:srgbClr val="17203F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614416"/>
            <a:ext cx="10424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818CF8"/>
                </a:solidFill>
                <a:latin typeface="Segoe UI"/>
              </a:rPr>
              <a:t>We need automated matching that is fast, consistent, AND explainable.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8B96B5"/>
                </a:solidFill>
                <a:latin typeface="Segoe UI"/>
              </a:rPr>
              <a:t>HireMind AI · PS03 Multi-Agent Resume Screening &amp; Job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B96B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818CF8"/>
                </a:solidFill>
                <a:latin typeface="Segoe UI"/>
              </a:rPr>
              <a:t>02  </a:t>
            </a:r>
            <a:r>
              <a:rPr sz="3000" b="1" i="0">
                <a:solidFill>
                  <a:srgbClr val="E7ECF7"/>
                </a:solidFill>
                <a:latin typeface="Segoe UI"/>
              </a:rPr>
              <a:t>Our Solution: Five Cooperating AI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100" b="1" i="0">
                <a:solidFill>
                  <a:srgbClr val="22D3EE"/>
                </a:solidFill>
                <a:latin typeface="Segoe UI"/>
              </a:rPr>
              <a:t>① Resume Agent</a:t>
            </a:r>
            <a:r>
              <a:rPr sz="1700" b="0" i="0">
                <a:solidFill>
                  <a:srgbClr val="E7ECF7"/>
                </a:solidFill>
                <a:latin typeface="Segoe UI"/>
              </a:rPr>
              <a:t>  —  parses resumes (txt/pdf/docx) into structured candidate profiles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2D3EE"/>
                </a:solidFill>
                <a:latin typeface="Segoe UI"/>
              </a:rPr>
              <a:t>② Job Agent</a:t>
            </a:r>
            <a:r>
              <a:rPr sz="1700" b="0" i="0">
                <a:solidFill>
                  <a:srgbClr val="E7ECF7"/>
                </a:solidFill>
                <a:latin typeface="Segoe UI"/>
              </a:rPr>
              <a:t>  —  extracts must-have vs nice-to-have skills, experience &amp; education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34D399"/>
                </a:solidFill>
                <a:latin typeface="Segoe UI"/>
              </a:rPr>
              <a:t>③ Matching Agent</a:t>
            </a:r>
            <a:r>
              <a:rPr sz="1700" b="0" i="0">
                <a:solidFill>
                  <a:srgbClr val="E7ECF7"/>
                </a:solidFill>
                <a:latin typeface="Segoe UI"/>
              </a:rPr>
              <a:t>  —  deterministic weighted 0–100 fit score — explainable &amp; reproducible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FBBF24"/>
                </a:solidFill>
                <a:latin typeface="Segoe UI"/>
              </a:rPr>
              <a:t>④ Skill Gap Agent</a:t>
            </a:r>
            <a:r>
              <a:rPr sz="1700" b="0" i="0">
                <a:solidFill>
                  <a:srgbClr val="E7ECF7"/>
                </a:solidFill>
                <a:latin typeface="Segoe UI"/>
              </a:rPr>
              <a:t>  —  critical vs stretch gaps + adjacent strengths + upskilling plan</a:t>
            </a: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FBBF24"/>
                </a:solidFill>
                <a:latin typeface="Segoe UI"/>
              </a:rPr>
              <a:t>⑤ Recruiter Agent</a:t>
            </a:r>
            <a:r>
              <a:rPr sz="1700" b="0" i="0">
                <a:solidFill>
                  <a:srgbClr val="E7ECF7"/>
                </a:solidFill>
                <a:latin typeface="Segoe UI"/>
              </a:rPr>
              <a:t>  —  human-style summary with interview / hold / pass 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440680"/>
            <a:ext cx="10881360" cy="822960"/>
          </a:xfrm>
          <a:prstGeom prst="roundRect">
            <a:avLst/>
          </a:prstGeom>
          <a:solidFill>
            <a:srgbClr val="052E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577840"/>
            <a:ext cx="10424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34D399"/>
                </a:solidFill>
                <a:latin typeface="Segoe UI"/>
              </a:rPr>
              <a:t>Core principle: "LLM extracts, never decides" — language models parse &amp; write; a transparent engine ranks.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8B96B5"/>
                </a:solidFill>
                <a:latin typeface="Segoe UI"/>
              </a:rPr>
              <a:t>HireMind AI · PS03 Multi-Agent Resume Screening &amp; Job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B96B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818CF8"/>
                </a:solidFill>
                <a:latin typeface="Segoe UI"/>
              </a:rPr>
              <a:t>03  </a:t>
            </a:r>
            <a:r>
              <a:rPr sz="3000" b="1" i="0">
                <a:solidFill>
                  <a:srgbClr val="E7ECF7"/>
                </a:solidFill>
                <a:latin typeface="Segoe UI"/>
              </a:rPr>
              <a:t>Architecture &amp; Technical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058400" cy="59063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8B96B5"/>
                </a:solidFill>
                <a:latin typeface="Segoe UI"/>
              </a:rPr>
              <a:t>Every agent's input/output is exposed in the UI via an Agent Trace panel — full auditability per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8B96B5"/>
                </a:solidFill>
                <a:latin typeface="Segoe UI"/>
              </a:rPr>
              <a:t>HireMind AI · PS03 Multi-Agent Resume Screening &amp; Job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B96B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818CF8"/>
                </a:solidFill>
                <a:latin typeface="Segoe UI"/>
              </a:rPr>
              <a:t>04  </a:t>
            </a:r>
            <a:r>
              <a:rPr sz="3000" b="1" i="0">
                <a:solidFill>
                  <a:srgbClr val="E7ECF7"/>
                </a:solidFill>
                <a:latin typeface="Segoe UI"/>
              </a:rPr>
              <a:t>Explainable Scoring Model (Matching Agent)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6766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338328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7ECF7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172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7ECF7"/>
                          </a:solidFill>
                          <a:latin typeface="Segoe UI"/>
                        </a:rPr>
                        <a:t>Weight</a:t>
                      </a:r>
                    </a:p>
                  </a:txBody>
                  <a:tcPr anchor="ctr">
                    <a:solidFill>
                      <a:srgbClr val="172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7ECF7"/>
                          </a:solidFill>
                          <a:latin typeface="Segoe UI"/>
                        </a:rPr>
                        <a:t>How it's computed</a:t>
                      </a:r>
                    </a:p>
                  </a:txBody>
                  <a:tcPr anchor="ctr">
                    <a:solidFill>
                      <a:srgbClr val="17203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Must-have skills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45%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fraction matched (fuzzy + taxonomy)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Nice-to-have skills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15%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fraction matched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Experience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20%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1.0 if ≥ required yrs, scaled below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Education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10%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degree-rank comparison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Keyword affinity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10%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JD keywords found in resume text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417320"/>
            <a:ext cx="39319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E7ECF7"/>
                </a:solidFill>
                <a:latin typeface="Segoe UI"/>
              </a:rPr>
              <a:t>Fuzzy matching —</a:t>
            </a:r>
            <a:r>
              <a:rPr sz="1400" b="0" i="0">
                <a:solidFill>
                  <a:srgbClr val="8B96B5"/>
                </a:solidFill>
                <a:latin typeface="Segoe UI"/>
              </a:rPr>
              <a:t>  'React.js' = 'React' (difflib + 130-skill alias taxonomy)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E7ECF7"/>
                </a:solidFill>
                <a:latin typeface="Segoe UI"/>
              </a:rPr>
              <a:t>Verdicts —</a:t>
            </a:r>
            <a:r>
              <a:rPr sz="1400" b="0" i="0">
                <a:solidFill>
                  <a:srgbClr val="8B96B5"/>
                </a:solidFill>
                <a:latin typeface="Segoe UI"/>
              </a:rPr>
              <a:t>  ≥80 Strong · 60–79 Good · 40–59 Partial · &lt;40 Weak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E7ECF7"/>
                </a:solidFill>
                <a:latin typeface="Segoe UI"/>
              </a:rPr>
              <a:t>Reproducible —</a:t>
            </a:r>
            <a:r>
              <a:rPr sz="1400" b="0" i="0">
                <a:solidFill>
                  <a:srgbClr val="8B96B5"/>
                </a:solidFill>
                <a:latin typeface="Segoe UI"/>
              </a:rPr>
              <a:t>  same input ⇒ identical ranking, every run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E7ECF7"/>
                </a:solidFill>
                <a:latin typeface="Segoe UI"/>
              </a:rPr>
              <a:t>No demographics —</a:t>
            </a:r>
            <a:r>
              <a:rPr sz="1400" b="0" i="0">
                <a:solidFill>
                  <a:srgbClr val="8B96B5"/>
                </a:solidFill>
                <a:latin typeface="Segoe UI"/>
              </a:rPr>
              <a:t>  only skills / experience / education enter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46320"/>
            <a:ext cx="10881360" cy="1234440"/>
          </a:xfrm>
          <a:prstGeom prst="roundRect">
            <a:avLst/>
          </a:prstGeom>
          <a:solidFill>
            <a:srgbClr val="17203F"/>
          </a:solidFill>
          <a:ln w="12700">
            <a:solidFill>
              <a:srgbClr val="26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56048"/>
            <a:ext cx="10424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22D3EE"/>
                </a:solidFill>
                <a:latin typeface="Segoe UI"/>
              </a:rPr>
              <a:t>Pipeline: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Upload → Extraction (Gemini / offline NLP) → Weighted Scoring → Gap Analysis → Recruiter Summary → Ranked List + Agent Trace</a:t>
            </a:r>
          </a:p>
          <a:p>
            <a:r>
              <a:rPr sz="1400" b="1" i="0">
                <a:solidFill>
                  <a:srgbClr val="FBBF24"/>
                </a:solidFill>
                <a:latin typeface="Segoe UI"/>
              </a:rPr>
              <a:t>Dual mode: works with a Gemini API key OR fully offline — the demo never breaks on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8B96B5"/>
                </a:solidFill>
                <a:latin typeface="Segoe UI"/>
              </a:rPr>
              <a:t>HireMind AI · PS03 Multi-Agent Resume Screening &amp; Job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B96B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818CF8"/>
                </a:solidFill>
                <a:latin typeface="Segoe UI"/>
              </a:rPr>
              <a:t>05  </a:t>
            </a:r>
            <a:r>
              <a:rPr sz="3000" b="1" i="0">
                <a:solidFill>
                  <a:srgbClr val="E7ECF7"/>
                </a:solidFill>
                <a:latin typeface="Segoe UI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5120640"/>
              </a:tblGrid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E7ECF7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anchor="ctr">
                    <a:solidFill>
                      <a:srgbClr val="172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E7ECF7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anchor="ctr">
                    <a:solidFill>
                      <a:srgbClr val="172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E7ECF7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anchor="ctr">
                    <a:solidFill>
                      <a:srgbClr val="17203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React 18 + Vite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agent cards, ranked lists, explainable detail panels, hot-reload dev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Python 3 + FastAPI (Uvicorn)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async REST API, auto OpenAPI docs, serves the React build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LLM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Google Gemini 2.5 Flash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JSON-mode extraction &amp; summarisation; user-supplied key, never hard-coded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Offline NLP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Regex + skill taxonomy + difflib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deterministic fallback &amp; alias normalisation ('k8s' → Kubernetes)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Parsing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pypdf · python-docx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real-world resume formats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Concurrency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ThreadPoolExecutor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parallel recruiter summaries for speed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8B96B5"/>
                </a:solidFill>
                <a:latin typeface="Segoe UI"/>
              </a:rPr>
              <a:t>Repo: backend/ (agents) · frontend/ (React) · data/ (demo set) · docs/ (this deck + report) · test_pipeline.py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8B96B5"/>
                </a:solidFill>
                <a:latin typeface="Segoe UI"/>
              </a:rPr>
              <a:t>HireMind AI · PS03 Multi-Agent Resume Screening &amp; Job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B96B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818CF8"/>
                </a:solidFill>
                <a:latin typeface="Segoe UI"/>
              </a:rPr>
              <a:t>06  </a:t>
            </a:r>
            <a:r>
              <a:rPr sz="3000" b="1" i="0">
                <a:solidFill>
                  <a:srgbClr val="E7ECF7"/>
                </a:solidFill>
                <a:latin typeface="Segoe UI"/>
              </a:rPr>
              <a:t>Live Demo: 10 Resumes × 3 Jobs → Ranked Lists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743200"/>
                <a:gridCol w="2743200"/>
                <a:gridCol w="256032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7ECF7"/>
                          </a:solidFill>
                          <a:latin typeface="Segoe UI"/>
                        </a:rPr>
                        <a:t>Job Description</a:t>
                      </a:r>
                    </a:p>
                  </a:txBody>
                  <a:tcPr anchor="ctr">
                    <a:solidFill>
                      <a:srgbClr val="172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7ECF7"/>
                          </a:solidFill>
                          <a:latin typeface="Segoe UI"/>
                        </a:rPr>
                        <a:t>#1 Ranked</a:t>
                      </a:r>
                    </a:p>
                  </a:txBody>
                  <a:tcPr anchor="ctr">
                    <a:solidFill>
                      <a:srgbClr val="172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7ECF7"/>
                          </a:solidFill>
                          <a:latin typeface="Segoe UI"/>
                        </a:rPr>
                        <a:t>#2</a:t>
                      </a:r>
                    </a:p>
                  </a:txBody>
                  <a:tcPr anchor="ctr">
                    <a:solidFill>
                      <a:srgbClr val="172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E7ECF7"/>
                          </a:solidFill>
                          <a:latin typeface="Segoe UI"/>
                        </a:rPr>
                        <a:t>#3</a:t>
                      </a:r>
                    </a:p>
                  </a:txBody>
                  <a:tcPr anchor="ctr">
                    <a:solidFill>
                      <a:srgbClr val="17203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Senior ML Engineer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4D399"/>
                          </a:solidFill>
                          <a:latin typeface="Segoe UI"/>
                        </a:rPr>
                        <a:t>Aarav Sharma · 95 Strong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Priya Nair · 69 Good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Divya Reddy · 59 Partial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Full-Stack Developer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4D399"/>
                          </a:solidFill>
                          <a:latin typeface="Segoe UI"/>
                        </a:rPr>
                        <a:t>Sneha Kulkarni · 100 Strong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Rohan Mehta · 81 Strong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Vikram Singh · 66 Good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Data Analyst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4D399"/>
                          </a:solidFill>
                          <a:latin typeface="Segoe UI"/>
                        </a:rPr>
                        <a:t>Karan Patel · 80.7 Strong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Priya Nair · 78 Good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E7ECF7"/>
                          </a:solidFill>
                          <a:latin typeface="Segoe UI"/>
                        </a:rPr>
                        <a:t>Aarav Sharma · 46.7 Partial</a:t>
                      </a:r>
                    </a:p>
                  </a:txBody>
                  <a:tcPr anchor="ctr">
                    <a:solidFill>
                      <a:srgbClr val="151C3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148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0" i="0">
                <a:solidFill>
                  <a:srgbClr val="E7ECF7"/>
                </a:solidFill>
                <a:latin typeface="Segoe UI"/>
              </a:rPr>
              <a:t>Domain specialists top their own role — exactly what a recruiter would expect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0" i="0">
                <a:solidFill>
                  <a:srgbClr val="E7ECF7"/>
                </a:solidFill>
                <a:latin typeface="Segoe UI"/>
              </a:rPr>
              <a:t>Fresh M.Tech ML grad ranks #3 on senior ML role (experience dimension at work)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0" i="0">
                <a:solidFill>
                  <a:srgbClr val="E7ECF7"/>
                </a:solidFill>
                <a:latin typeface="Segoe UI"/>
              </a:rPr>
              <a:t>Every card opens an explainable report: score bars, ✓/✗ skills, gaps, recruiter note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0" i="0">
                <a:solidFill>
                  <a:srgbClr val="E7ECF7"/>
                </a:solidFill>
                <a:latin typeface="Segoe UI"/>
              </a:rPr>
              <a:t>Agent Trace panel shows each agent's raw JSON — audit any decision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8B96B5"/>
                </a:solidFill>
                <a:latin typeface="Segoe UI"/>
              </a:rPr>
              <a:t>HireMind AI · PS03 Multi-Agent Resume Screening &amp; Job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B96B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818CF8"/>
                </a:solidFill>
                <a:latin typeface="Segoe UI"/>
              </a:rPr>
              <a:t>07  </a:t>
            </a:r>
            <a:r>
              <a:rPr sz="3000" b="1" i="0">
                <a:solidFill>
                  <a:srgbClr val="E7ECF7"/>
                </a:solidFill>
                <a:latin typeface="Segoe UI"/>
              </a:rPr>
              <a:t>Innovation, Explainability &amp; Fairness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4663440"/>
          </a:xfrm>
          <a:prstGeom prst="roundRect">
            <a:avLst/>
          </a:prstGeom>
          <a:solidFill>
            <a:srgbClr val="151C33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818CF8"/>
                </a:solidFill>
                <a:latin typeface="Segoe UI"/>
              </a:rPr>
              <a:t>What makes us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9377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Hybrid LLM + deterministic design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Dual-engine resilience (keyless demo)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Adjacency-aware gap analysis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Shared 130-skill taxonomy contract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Recruiter-grade output, not a bare number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One-click PS03-required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49240" cy="4663440"/>
          </a:xfrm>
          <a:prstGeom prst="roundRect">
            <a:avLst/>
          </a:prstGeom>
          <a:solidFill>
            <a:srgbClr val="151C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34D399"/>
                </a:solidFill>
                <a:latin typeface="Segoe UI"/>
              </a:rPr>
              <a:t>Trust &amp; fairness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9377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Published weights, plain-language notes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Agent Trace = end-to-end audit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No names / photos / ages in scoring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Identical input ⇒ identical output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Alias matching removes terminology bias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 i="0">
                <a:solidFill>
                  <a:srgbClr val="E7ECF7"/>
                </a:solidFill>
                <a:latin typeface="Segoe UI"/>
              </a:rPr>
              <a:t>Weights tunable per 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8B96B5"/>
                </a:solidFill>
                <a:latin typeface="Segoe UI"/>
              </a:rPr>
              <a:t>HireMind AI · PS03 Multi-Agent Resume Screening &amp; Job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B96B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818CF8"/>
                </a:solidFill>
                <a:latin typeface="Segoe UI"/>
              </a:rPr>
              <a:t>08  </a:t>
            </a:r>
            <a:r>
              <a:rPr sz="3000" b="1" i="0">
                <a:solidFill>
                  <a:srgbClr val="E7ECF7"/>
                </a:solidFill>
                <a:latin typeface="Segoe UI"/>
              </a:rPr>
              <a:t>Limitations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2011680" cy="508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E7ECF7"/>
                </a:solidFill>
                <a:latin typeface="Segoe UI"/>
              </a:rPr>
              <a:t>Today —</a:t>
            </a:r>
            <a:r>
              <a:rPr sz="1700" b="0" i="0">
                <a:solidFill>
                  <a:srgbClr val="8B96B5"/>
                </a:solidFill>
                <a:latin typeface="Segoe UI"/>
              </a:rPr>
              <a:t>  heuristic offline extraction on very unstructured resumes; in-memory storage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E7ECF7"/>
                </a:solidFill>
                <a:latin typeface="Segoe UI"/>
              </a:rPr>
              <a:t>Next —</a:t>
            </a:r>
            <a:r>
              <a:rPr sz="1700" b="0" i="0">
                <a:solidFill>
                  <a:srgbClr val="8B96B5"/>
                </a:solidFill>
                <a:latin typeface="Segoe UI"/>
              </a:rPr>
              <a:t>  SQLite/Postgres persistence, saved match history, recruiter accounts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E7ECF7"/>
                </a:solidFill>
                <a:latin typeface="Segoe UI"/>
              </a:rPr>
              <a:t>Next —</a:t>
            </a:r>
            <a:r>
              <a:rPr sz="1700" b="0" i="0">
                <a:solidFill>
                  <a:srgbClr val="8B96B5"/>
                </a:solidFill>
                <a:latin typeface="Segoe UI"/>
              </a:rPr>
              <a:t>  semantic embeddings as a 6th scoring signal; layout-aware PDF parsing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E7ECF7"/>
                </a:solidFill>
                <a:latin typeface="Segoe UI"/>
              </a:rPr>
              <a:t>Next —</a:t>
            </a:r>
            <a:r>
              <a:rPr sz="1700" b="0" i="0">
                <a:solidFill>
                  <a:srgbClr val="8B96B5"/>
                </a:solidFill>
                <a:latin typeface="Segoe UI"/>
              </a:rPr>
              <a:t>  multi-job comparison board; CSV/PDF export of ranked lists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E7ECF7"/>
                </a:solidFill>
                <a:latin typeface="Segoe UI"/>
              </a:rPr>
              <a:t>Next —</a:t>
            </a:r>
            <a:r>
              <a:rPr sz="1700" b="0" i="0">
                <a:solidFill>
                  <a:srgbClr val="8B96B5"/>
                </a:solidFill>
                <a:latin typeface="Segoe UI"/>
              </a:rPr>
              <a:t>  scheduled fairness audits of weights &amp; gap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257800"/>
            <a:ext cx="10881360" cy="914400"/>
          </a:xfrm>
          <a:prstGeom prst="roundRect">
            <a:avLst/>
          </a:prstGeom>
          <a:solidFill>
            <a:srgbClr val="17203F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394960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FBBF24"/>
                </a:solidFill>
                <a:latin typeface="Segoe UI"/>
              </a:rPr>
              <a:t>Honest scope: we ship a complete, judge-proof vertical slice today — persistence &amp; semantics are planned, not promised.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8B96B5"/>
                </a:solidFill>
                <a:latin typeface="Segoe UI"/>
              </a:rPr>
              <a:t>HireMind AI · PS03 Multi-Agent Resume Screening &amp; Job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B96B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 i="0">
                <a:solidFill>
                  <a:srgbClr val="E7ECF7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818CF8"/>
                </a:solidFill>
                <a:latin typeface="Segoe UI"/>
              </a:rPr>
              <a:t>[YOUR TEAM NAME]  —  questions welcome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291840"/>
            <a:ext cx="7406640" cy="2103120"/>
          </a:xfrm>
          <a:prstGeom prst="roundRect">
            <a:avLst/>
          </a:prstGeom>
          <a:solidFill>
            <a:srgbClr val="151C33"/>
          </a:solidFill>
          <a:ln w="12700">
            <a:solidFill>
              <a:srgbClr val="26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6040" y="3429000"/>
            <a:ext cx="6949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2D3EE"/>
                </a:solidFill>
                <a:latin typeface="Segoe UI"/>
              </a:rPr>
              <a:t>AI &amp; external resource disclosure: </a:t>
            </a:r>
            <a:r>
              <a:rPr sz="1300" b="0" i="0">
                <a:solidFill>
                  <a:srgbClr val="8B96B5"/>
                </a:solidFill>
                <a:latin typeface="Segoe UI"/>
              </a:rPr>
              <a:t>Google Gemini 2.5 Flash powers optional extraction &amp; summaries; AI coding assistant used for scaffolding (all design decisions team-verified); demo data 100% synthetic; open datasets surveyed with license checks per PS03.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8B96B5"/>
                </a:solidFill>
                <a:latin typeface="Segoe UI"/>
              </a:rPr>
              <a:t>Stack: React 18 · Vite · FastAPI · Gemini · python-docx/pypdf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34D399"/>
                </a:solidFill>
                <a:latin typeface="Segoe UI"/>
              </a:rPr>
              <a:t>Live demo: load dataset → run pipeline → open any ranked candidate → inspect the Agent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8B96B5"/>
                </a:solidFill>
                <a:latin typeface="Segoe UI"/>
              </a:rPr>
              <a:t>HireMind AI · PS03 Multi-Agent Resume Screening &amp; Job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B96B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